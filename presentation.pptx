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AUM Distribution by Category (₹ Cr)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Cr)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Large Cap</c:v>
                </c:pt>
                <c:pt idx="1">
                  <c:v>Small Cap</c:v>
                </c:pt>
                <c:pt idx="2">
                  <c:v>Mid Cap</c:v>
                </c:pt>
                <c:pt idx="3">
                  <c:v>Flexi Cap</c:v>
                </c:pt>
                <c:pt idx="4">
                  <c:v>Liquid</c:v>
                </c:pt>
                <c:pt idx="5">
                  <c:v>L&amp;M Cap</c:v>
                </c:pt>
                <c:pt idx="6">
                  <c:v>Short Dur</c:v>
                </c:pt>
                <c:pt idx="7">
                  <c:v>Index/ETF</c:v>
                </c:pt>
                <c:pt idx="8">
                  <c:v>Gilt</c:v>
                </c:pt>
                <c:pt idx="9">
                  <c:v>ELSS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324000</c:v>
                </c:pt>
                <c:pt idx="1">
                  <c:v>199000</c:v>
                </c:pt>
                <c:pt idx="2">
                  <c:v>197000</c:v>
                </c:pt>
                <c:pt idx="3">
                  <c:v>106000</c:v>
                </c:pt>
                <c:pt idx="4">
                  <c:v>54000</c:v>
                </c:pt>
                <c:pt idx="5">
                  <c:v>53000</c:v>
                </c:pt>
                <c:pt idx="6">
                  <c:v>49000</c:v>
                </c:pt>
                <c:pt idx="7">
                  <c:v>20000</c:v>
                </c:pt>
                <c:pt idx="8">
                  <c:v>12000</c:v>
                </c:pt>
                <c:pt idx="9">
                  <c:v>8000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76933920"/>
        <c:axId val="-276940992"/>
      </c:barChart>
      <c:catAx>
        <c:axId val="-2769339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-276940992"/>
        <c:crosses val="autoZero"/>
        <c:auto val="1"/>
        <c:lblAlgn val="ctr"/>
        <c:lblOffset val="100"/>
        <c:noMultiLvlLbl val="1"/>
      </c:catAx>
      <c:valAx>
        <c:axId val="-27694099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-276933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75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400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Project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8640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Presented by: Vuba Medhaswini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Internship Capstone | Indian Mutual Fund Market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219456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📊  40 Schemes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3977640"/>
            <a:ext cx="219456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0896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🏦  10 Fund Houses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3977640"/>
            <a:ext cx="219456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6928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💰  ₹1M Cr AUM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840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325880"/>
            <a:ext cx="38404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325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Retail investors in India lack access to structured, data-driven analysis of mutual fund performance.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Existing tools are fragmented and fail to quantify risk-adjusted returns, drawdowns, and alpha generation across fund categories comprehensively.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206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0" y="1325880"/>
            <a:ext cx="420624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0" y="13258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Build an end-to-end ETL + analytics pipeline for MF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432304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83480" y="238658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Compute risk metrics: Alpha, Beta, Sharpe, VaR, CAGR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944368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983480" y="28986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Identify top-performing funds by category &amp; risk profile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3456432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83480" y="34107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Create interactive Power BI dashboards for stakeholders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96849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83480" y="392277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Provide actionable investment recommendations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16002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490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AMFI India (amfiindia.com)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Historical NAV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Scheme master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1600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1490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Dimensions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40 Mutual Fund Schemes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10 Fund Houses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Multiple categories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51760" cy="160020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20840" y="1490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Time Period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9202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3+ Year Historical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Daily NAV records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1Y &amp; 3Y return windows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2651760" cy="1600200"/>
          </a:xfrm>
          <a:prstGeom prst="rect">
            <a:avLst/>
          </a:prstGeom>
          <a:solidFill>
            <a:srgbClr val="FDF4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3192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Fields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Scheme NAV, AUM (Cr)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Alpha, Beta, Std Dev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CAGR, Sharpe Ratio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3154680"/>
            <a:ext cx="2651760" cy="160020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3832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0480" y="33192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Categories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7490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Large Cap, Mid Cap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Small Cap, ELSS, Flexi Cap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Gilt, Liquid, Index/ETF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651760" cy="160020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63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20840" y="33192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Storage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7490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SQL Database (cleaned)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Power BI Data Model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Python DataFrames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508760" cy="2286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B8A6"/>
                </a:solidFill>
              </a:rPr>
              <a:t>Data 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AMFI India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NAV &amp; Scheme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74520" y="2560320"/>
            <a:ext cx="228600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103120" y="1417320"/>
            <a:ext cx="1508760" cy="2286000"/>
          </a:xfrm>
          <a:prstGeom prst="rect">
            <a:avLst/>
          </a:prstGeom>
          <a:solidFill>
            <a:srgbClr val="0E5C5C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103120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03120" y="2057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B8A6"/>
                </a:solidFill>
              </a:rPr>
              <a:t>ETL Pipeline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Python + Pandas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Extract &amp; Transform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51760" y="3520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2560320"/>
            <a:ext cx="228600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840480" y="1417320"/>
            <a:ext cx="1508760" cy="2286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840480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40480" y="2057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B8A6"/>
                </a:solidFill>
              </a:rPr>
              <a:t>SQL Database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Clean Storage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Relational Model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0" y="3520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49240" y="2560320"/>
            <a:ext cx="228600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577840" y="1417320"/>
            <a:ext cx="1508760" cy="2286000"/>
          </a:xfrm>
          <a:prstGeom prst="rect">
            <a:avLst/>
          </a:prstGeom>
          <a:solidFill>
            <a:srgbClr val="0E5C5C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577840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77840" y="2057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B8A6"/>
                </a:solidFill>
              </a:rPr>
              <a:t>Analytics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Metrics Engine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Alpha/Beta/Sharpe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3520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86600" y="2560320"/>
            <a:ext cx="228600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15200" y="1417320"/>
            <a:ext cx="1508760" cy="2286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15200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5200" y="2057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B8A6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Power BI Reports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Interactive Views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63840" y="3520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4114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Tech Stack: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737360" y="4133088"/>
            <a:ext cx="1280160" cy="292608"/>
          </a:xfrm>
          <a:prstGeom prst="rect">
            <a:avLst/>
          </a:prstGeom>
          <a:solidFill>
            <a:srgbClr val="1A2E40"/>
          </a:solidFill>
          <a:ln w="1016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737360" y="41330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B8A6"/>
                </a:solidFill>
              </a:rPr>
              <a:t>Python 3.x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0" y="4133088"/>
            <a:ext cx="1280160" cy="292608"/>
          </a:xfrm>
          <a:prstGeom prst="rect">
            <a:avLst/>
          </a:prstGeom>
          <a:solidFill>
            <a:srgbClr val="1A2E40"/>
          </a:solidFill>
          <a:ln w="1016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200400" y="41330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B8A6"/>
                </a:solidFill>
              </a:rPr>
              <a:t>Pandas/NumPy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4133088"/>
            <a:ext cx="1280160" cy="292608"/>
          </a:xfrm>
          <a:prstGeom prst="rect">
            <a:avLst/>
          </a:prstGeom>
          <a:solidFill>
            <a:srgbClr val="1A2E40"/>
          </a:solidFill>
          <a:ln w="1016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663440" y="41330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B8A6"/>
                </a:solidFill>
              </a:rPr>
              <a:t>SQL Server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4133088"/>
            <a:ext cx="1280160" cy="292608"/>
          </a:xfrm>
          <a:prstGeom prst="rect">
            <a:avLst/>
          </a:prstGeom>
          <a:solidFill>
            <a:srgbClr val="1A2E40"/>
          </a:solidFill>
          <a:ln w="1016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126480" y="41330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B8A6"/>
                </a:solidFill>
              </a:rPr>
              <a:t>Power BI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89520" y="4133088"/>
            <a:ext cx="1280160" cy="292608"/>
          </a:xfrm>
          <a:prstGeom prst="rect">
            <a:avLst/>
          </a:prstGeom>
          <a:solidFill>
            <a:srgbClr val="1A2E40"/>
          </a:solidFill>
          <a:ln w="1016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589520" y="41330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B8A6"/>
                </a:solidFill>
              </a:rPr>
              <a:t>DAX/M Query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Data Cleaning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Extract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Fetched NAV data via AMFI API &amp; CSV files. Collected scheme metadata, AUM, and fund house mappings.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Transform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Normalized NAV data, computed daily returns, annualized volatility (252-day). Calculated Alpha, Beta, CAGR.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Load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840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Loaded into relational SQL database with staging tables. Created analytical views for Power BI connection.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1325880"/>
            <a:ext cx="3931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3931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13258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🧹  Data Cleaning Steps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83480" y="1828800"/>
            <a:ext cx="201168" cy="201168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83480" y="18288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18288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Removed duplicate NAV entries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83480" y="2203704"/>
            <a:ext cx="201168" cy="201168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83480" y="2203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7800" y="22037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Handled missing values via forward-fill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2578608"/>
            <a:ext cx="201168" cy="201168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983480" y="25786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257860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Standardized scheme names &amp; codes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2953512"/>
            <a:ext cx="201168" cy="201168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83480" y="29535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29535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Outlier detection on return series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3480" y="3328416"/>
            <a:ext cx="201168" cy="201168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983480" y="3328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33284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Date alignment across fund records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83480" y="3703320"/>
            <a:ext cx="201168" cy="201168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983480" y="3703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37033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AUM normalization (Cr units)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83480" y="4078224"/>
            <a:ext cx="201168" cy="201168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983480" y="4078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57800" y="40782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Category tagging &amp; validation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83480" y="4453128"/>
            <a:ext cx="201168" cy="201168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983480" y="4453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57800" y="44531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Beta benchmark: Nifty 50 index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325880"/>
          <a:ext cx="49377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325880"/>
            <a:ext cx="3291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0" y="1325880"/>
            <a:ext cx="54864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669280" y="1371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40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669280" y="17190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Total Schemes Analyzed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0" y="2176272"/>
            <a:ext cx="3291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486400" y="2176272"/>
            <a:ext cx="54864" cy="731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669280" y="22219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</a:rPr>
              <a:t>10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669280" y="256946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Fund Houses Covered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0" y="3026664"/>
            <a:ext cx="3291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486400" y="3026664"/>
            <a:ext cx="54864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669280" y="307238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</a:rPr>
              <a:t>1.25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669280" y="341985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Average Alpha Generated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0" y="3877056"/>
            <a:ext cx="3291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5486400" y="3877056"/>
            <a:ext cx="54864" cy="7315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669280" y="392277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B84B"/>
                </a:solidFill>
              </a:rPr>
              <a:t>₹1M Cr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669280" y="42702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Total Industry AUM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Key Insight: Large Cap dominates with 31% of total AUM. Small Cap &amp; Mid Cap show higher alpha generation.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691640"/>
          </a:xfrm>
          <a:prstGeom prst="rect">
            <a:avLst/>
          </a:prstGeom>
          <a:solidFill>
            <a:srgbClr val="0D2035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CAGR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Compound Annual Growth Rate measures the fund's mean annual growth over the specified period, smoothing out volatility.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50008"/>
            <a:ext cx="384048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3500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CAGR = (End NAV / Start NAV)^(1/n) - 1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7B8A6"/>
                </a:solidFill>
              </a:rPr>
              <a:t>💡 Top performer: ABSL Small Cap — 24.93% (1Y)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4114800" cy="1691640"/>
          </a:xfrm>
          <a:prstGeom prst="rect">
            <a:avLst/>
          </a:prstGeom>
          <a:solidFill>
            <a:srgbClr val="0D2035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41148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7760" y="1325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 Sharpe Ratio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7647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Risk-adjusted return metric. Higher ratio indicates better return per unit of risk.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350008"/>
            <a:ext cx="384048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983480" y="23500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 = (Rp − Rf) / σp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7B8A6"/>
                </a:solidFill>
              </a:rPr>
              <a:t>💡 Liquid funds show lower Sharpe; Small Cap funds highest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4114800" cy="1691640"/>
          </a:xfrm>
          <a:prstGeom prst="rect">
            <a:avLst/>
          </a:prstGeom>
          <a:solidFill>
            <a:srgbClr val="0D2035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3200400"/>
            <a:ext cx="41148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3200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Alpha &amp; Beta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639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Alpha: excess return over benchmark. Beta: sensitivity to market movements.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384048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48640" y="42245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 = α + β·Rm + ε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526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7B8A6"/>
                </a:solidFill>
              </a:rPr>
              <a:t>💡 Avg Alpha: 1.25 | Avg Beta: 0.87 (market corr.)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200400"/>
            <a:ext cx="4114800" cy="1691640"/>
          </a:xfrm>
          <a:prstGeom prst="rect">
            <a:avLst/>
          </a:prstGeom>
          <a:solidFill>
            <a:srgbClr val="0D2035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800600" y="3200400"/>
            <a:ext cx="41148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937760" y="3200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📉  Drawdown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639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Maximum peak-to-trough decline. Measures downside risk and recovery potential.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4224528"/>
            <a:ext cx="384048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983480" y="42245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MDD = (Trough − Peak) / Peak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4526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7B8A6"/>
                </a:solidFill>
              </a:rPr>
              <a:t>💡 Small Cap funds exhibit highest drawdown risk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 Dashboard</a:t>
            </a:r>
            <a:endParaRPr lang="en-US" sz="2800" dirty="0"/>
          </a:p>
        </p:txBody>
      </p:sp>
      <p:pic>
        <p:nvPicPr>
          <p:cNvPr id="5" name="Image 0" descr="/mnt/user-data/uploads/1780849914901_industry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25880"/>
            <a:ext cx="82296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Dashboard built in Power BI | Covers AUM distribution, top fund houses, and category-wise breakdown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Dashboard</a:t>
            </a:r>
            <a:endParaRPr lang="en-US" sz="2800" dirty="0"/>
          </a:p>
        </p:txBody>
      </p:sp>
      <p:pic>
        <p:nvPicPr>
          <p:cNvPr id="5" name="Image 0" descr="/mnt/user-data/uploads/1780849901725_Fund_Perform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25880"/>
            <a:ext cx="82296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Interactive scorecard with Risk vs Return scatter plot and Top Funds by Alpha ranking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64592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⚠️  VaR &amp; CVaR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68096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Value at Risk (95% conf.): Max expected loss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267712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8096" y="22219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CVaR = Average loss beyond VaR threshold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68096" y="25694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Applied Monte Carlo simulation approach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4114800" cy="164592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834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📊  Rolling Sharpe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01768" y="1920240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02936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90-day rolling Sharpe ratio computed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01768" y="2267712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02936" y="22219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Identifies consistency of risk-adjusted returns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01768" y="2615184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202936" y="25694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Peaks aligned with bull market phases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4114800" cy="1645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🔬  Cohort Analysis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3749040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8096" y="3703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Funds grouped by category &amp; vintage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096512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68096" y="4050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Tracks performance evolution over time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443984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68096" y="43982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Small Cap cohort outperforms over 3Y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154680"/>
            <a:ext cx="4114800" cy="1645920"/>
          </a:xfrm>
          <a:prstGeom prst="rect">
            <a:avLst/>
          </a:prstGeom>
          <a:solidFill>
            <a:srgbClr val="FDF4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8348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💼  SIP Continuity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01768" y="3749040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202936" y="3703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Analyzed SIP investor return patterns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01768" y="4096512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202936" y="4050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Rupee-cost averaging impact measured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01768" y="4443984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02936" y="43982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CAGR uplift of ~1.5–2% over lump sum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325880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3258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📌  Key Findings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228600" cy="2286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9222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Nippon India MF leads in AUM with ₹1.5L Cr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228600" cy="2286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24942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ABSL Small Cap Fund: highest 1Y return at 24.93%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228600" cy="2286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270662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Average Alpha of 1.25 signals skilled fund management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228600" cy="2286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16382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Liquid funds offer near-zero beta — ideal for parking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228600" cy="2286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362102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HDFC Short Term Debt shows highest alpha (2.0) in debt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228600" cy="2286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07822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Small Cap funds exhibit highest VaR &amp; max drawdown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663440" y="1325880"/>
            <a:ext cx="41148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663440" y="13258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Recommendations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1874520"/>
            <a:ext cx="182880" cy="182880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74920" y="18105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Conservative Investors:</a:t>
            </a:r>
            <a:r>
              <a:rPr lang="en-US" sz="1050" dirty="0">
                <a:solidFill>
                  <a:srgbClr val="334155"/>
                </a:solidFill>
              </a:rPr>
              <a:t> Liquid &amp; Short-Duration funds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331720"/>
            <a:ext cx="182880" cy="182880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74920" y="22677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Moderate Risk Appetite:</a:t>
            </a:r>
            <a:r>
              <a:rPr lang="en-US" sz="1050" dirty="0">
                <a:solidFill>
                  <a:srgbClr val="334155"/>
                </a:solidFill>
              </a:rPr>
              <a:t> Large Cap or Flexi Cap funds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788920"/>
            <a:ext cx="182880" cy="182880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74920" y="27249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Aggressive Growth:</a:t>
            </a:r>
            <a:r>
              <a:rPr lang="en-US" sz="1050" dirty="0">
                <a:solidFill>
                  <a:srgbClr val="334155"/>
                </a:solidFill>
              </a:rPr>
              <a:t> Small/Mid Cap with SIP approach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246120"/>
            <a:ext cx="182880" cy="182880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74920" y="31821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Tax Planning:</a:t>
            </a:r>
            <a:r>
              <a:rPr lang="en-US" sz="1050" dirty="0">
                <a:solidFill>
                  <a:srgbClr val="334155"/>
                </a:solidFill>
              </a:rPr>
              <a:t> ELSS with 3-year lock-in for 80C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3703320"/>
            <a:ext cx="182880" cy="182880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74920" y="36393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Portfolio Diversification:</a:t>
            </a:r>
            <a:r>
              <a:rPr lang="en-US" sz="1050" dirty="0">
                <a:solidFill>
                  <a:srgbClr val="334155"/>
                </a:solidFill>
              </a:rPr>
              <a:t> Blend categories for Sharpe &gt; 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4160520"/>
            <a:ext cx="182880" cy="182880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074920" y="40965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Review Frequency:</a:t>
            </a:r>
            <a:r>
              <a:rPr lang="en-US" sz="1050" dirty="0">
                <a:solidFill>
                  <a:srgbClr val="334155"/>
                </a:solidFill>
              </a:rPr>
              <a:t> Quarterly rebalancing recommended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583680" y="64008"/>
            <a:ext cx="2560320" cy="5015484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This project demonstrates a complete data analytics lifecycle — from raw NAV data ingestion to actionable investment insights.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We built robust ETL pipelines, computed industry-standard risk metrics, and delivered interactive Power BI dashboards.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Findings reveal clear performance differentiation across fund categories, empowering investors with evidence-based decision tools.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5029200" cy="0"/>
          </a:xfrm>
          <a:prstGeom prst="line">
            <a:avLst/>
          </a:prstGeom>
          <a:noFill/>
          <a:ln w="12700">
            <a:solidFill>
              <a:srgbClr val="E8B84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41605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629400" y="502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B8A6"/>
                </a:solidFill>
              </a:rPr>
              <a:t>40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29400" y="1051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Schemes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1600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B8A6"/>
                </a:solidFill>
              </a:rPr>
              <a:t>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2940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Fund Houses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2697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B8A6"/>
                </a:solidFill>
              </a:rPr>
              <a:t>1.25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2940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Avg Alpha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9400" y="37947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B8A6"/>
                </a:solidFill>
              </a:rPr>
              <a:t>5+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29400" y="4343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Analytics Models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947</Words>
  <Application>Microsoft Office PowerPoint</Application>
  <PresentationFormat>On-screen Show (16:9)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Analysis - Data Analyst Internship</dc:title>
  <dc:subject>PptxGenJS Presentation</dc:subject>
  <dc:creator>PptxGenJS</dc:creator>
  <cp:lastModifiedBy>Microsoft account</cp:lastModifiedBy>
  <cp:revision>1</cp:revision>
  <dcterms:created xsi:type="dcterms:W3CDTF">2026-06-07T16:34:54Z</dcterms:created>
  <dcterms:modified xsi:type="dcterms:W3CDTF">2026-06-07T16:39:30Z</dcterms:modified>
</cp:coreProperties>
</file>